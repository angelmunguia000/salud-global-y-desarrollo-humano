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Salud global y desarrollo humano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DE3FF"/>
                </a:solidFill>
              </a:defRPr>
            </a:pPr>
            <a:r>
              <a:t>¿Qué factores se asocian con la esperanza de vida y qué países rinden más de lo que su riqueza predice?</a:t>
            </a:r>
          </a:p>
          <a:p>
            <a:pPr>
              <a:spcAft>
                <a:spcPts val="800"/>
              </a:spcAft>
              <a:defRPr sz="2000" b="0">
                <a:solidFill>
                  <a:srgbClr val="DDE3FF"/>
                </a:solidFill>
              </a:defRPr>
            </a:pPr>
            <a:r>
              <a:t>Equipo 4 · Optativa III Ciencia de Datos · UNE Plantel Centro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Datos: 217 países, 6 indicadores, 1960–2024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• Banco Mundial: esperanza de vida, mortalidad infantil, PIB per cápita PPA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• OMS (GHED): gasto en salud, desde 2000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• PNUD vía OWID: años de escolaridad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• Pipeline reproducible con SHA-256, exclusión de agregados y unión por (iso3, año)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• Modelos: 4,339 país-año completos, 2000–2023</a:t>
            </a:r>
          </a:p>
        </p:txBody>
      </p:sp>
      <p:pic>
        <p:nvPicPr>
          <p:cNvPr id="5" name="Picture 4" descr="01_cobertura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0692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P1 · El ingreso se asocia con más vida, pero con rendimientos decrecientes</a:t>
            </a:r>
          </a:p>
        </p:txBody>
      </p:sp>
      <p:pic>
        <p:nvPicPr>
          <p:cNvPr id="4" name="Picture 3" descr="03_dispersion_pib_esperanza_vida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949440" cy="4525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Spearman ln(PIB)–esperanza de vida: 0.86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R² ajustado: 0.46 (niveles) → 0.68 (logaritmo)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Duplicar el PIB per cápita se asocia con ≈ +4 años</a:t>
            </a:r>
          </a:p>
          <a:p>
            <a:pPr>
              <a:spcAft>
                <a:spcPts val="800"/>
              </a:spcAft>
              <a:defRPr sz="1700" b="0">
                <a:solidFill>
                  <a:srgbClr val="222222"/>
                </a:solidFill>
              </a:defRPr>
            </a:pPr>
            <a:r>
              <a:t>La curva se desplaza hacia arriba con el tiempo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Más allá del ingreso: gasto en salud y escolaridad</a:t>
            </a:r>
          </a:p>
        </p:txBody>
      </p:sp>
      <p:pic>
        <p:nvPicPr>
          <p:cNvPr id="4" name="Picture 3" descr="02_coeficientes_m3_m4_m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498079" cy="2452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R² ajustado M1 0.68 → M3 0.72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Con efectos fijos de región/año, la escolaridad deja de ser significativa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Con efectos fijos de país, solo el ingreso resiste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→ Asociación sobre todo entre países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Validación fuera de muestra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74980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Esquema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R²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0.47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países no vistos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0.46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0.67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países no vistos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0.67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países no vistos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0.70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0.70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países no vistos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0.70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M3+región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M3+región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países no vistos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0.77</a:t>
                      </a:r>
                    </a:p>
                  </a:txBody>
                  <a:tcPr/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M6 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0.73</a:t>
                      </a:r>
                    </a:p>
                  </a:txBody>
                  <a:tcPr/>
                </a:tc>
              </a:tr>
              <a:tr h="3376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M6 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países no vistos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El ingreso solo ya predice R² ≈ 0.67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Agregar escolaridad no mejora la predicción temporal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El modelo de boosting (M6) logra el menor error: hay no linealidades y efectos regionales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P2 · 8 países superan de forma robusta lo que predice su ingreso</a:t>
            </a:r>
          </a:p>
        </p:txBody>
      </p:sp>
      <p:pic>
        <p:nvPicPr>
          <p:cNvPr id="4" name="Picture 3" descr="04_sobre_desempeno_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4644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Solomon Islands, West Bank and Gaza, Vanuatu, Cabo Verde, Burundi, Jordan, Albania, Maldives</a:t>
            </a:r>
          </a:p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Criterio: residuo medio ≥ +1σ y positivo ≥ 70 % de los años (2015–2023)</a:t>
            </a:r>
          </a:p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Robustez: también bajo M3 y dejando fuera al país</a:t>
            </a:r>
          </a:p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Cautela: países pequeños, datos ruidosos; causas no identificables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Países de sobre-desempeño: perfil</a:t>
            </a:r>
          </a:p>
        </p:txBody>
      </p:sp>
      <p:pic>
        <p:nvPicPr>
          <p:cNvPr id="4" name="Picture 3" descr="03_paises_sobre_desempe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6192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3716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Rango de PIB per cápita: US$ 1,027 – 19,792</a:t>
            </a:r>
          </a:p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Escolaridad media 3 a 10.4 años</a:t>
            </a:r>
          </a:p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Burundi: ≈ 62 años de esperanza de vida con el PIB per cápita más bajo de la lista</a:t>
            </a:r>
          </a:p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Siguiente paso: indicadores de atención primaria y vacunación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P3 · Las brechas en salud se están cerrando</a:t>
            </a:r>
          </a:p>
        </p:txBody>
      </p:sp>
      <p:pic>
        <p:nvPicPr>
          <p:cNvPr id="4" name="Picture 3" descr="06_convergencia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863840" cy="30870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σ entre países: 9.9 (1990) → 7.1 (2023)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Brecha regional máx–mín: 23.5 → 16.2 años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β = -0.0112 (p &lt; 0.001)</a:t>
            </a:r>
          </a:p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África Subsahariana sigue rezagada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Hipótesis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77440"/>
                <a:gridCol w="7955279"/>
              </a:tblGrid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Veredicto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Evidencia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Respaldada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R² aj. M0=0.465 vs M1=0.680; RESET M0 p=4.3e-268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Parcialmente respaldada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M3 (agrupado): p(ln gasto)=0.0012, p(escolaridad)=0.0078; con efectos fijos M4: p=0.02/0.78; M5: p=0.42/0.51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Respaldada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 bajo M1; 8 también bajo M3; 8 robustos (también leave-one-country-out)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Respaldada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σ 1990=9.88 → 2023=7.12; β=-0.0112 (p=5.5e-28)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• Asociaciones, no causalidad (diseño observacional)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• Gasto en salud disponible solo desde 2000; datos faltantes no imputados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• Colinealidad PIB–gasto (VIF ≈ 8–9)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• Medias regionales sin ponderar por población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• Esperanza de vida modelada por UN WPP con anomalías puntuales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• Umbral de sobre-desempeño es una convención del equipo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B256B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1. El ingreso es el predictor más fuerte; con rendimientos decrecientes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2. Gasto y educación aportan, pero de forma frágil; no son «efectos»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3. 8 países logran más salud de la que su ingreso predice: caso de estudio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4. La salud global converge; la brecha regional se redujo ≈ 10 años desde 1960</a:t>
            </a:r>
          </a:p>
          <a:p>
            <a:pPr>
              <a:spcAft>
                <a:spcPts val="800"/>
              </a:spcAft>
              <a:defRPr sz="2000" b="0">
                <a:solidFill>
                  <a:srgbClr val="222222"/>
                </a:solidFill>
              </a:defRPr>
            </a:pPr>
            <a:r>
              <a:t>5. Siguiente paso: población, indicadores OMS-GHO y modelos de panel dinámico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